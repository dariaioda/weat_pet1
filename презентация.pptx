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2"/>
  </p:notesMasterIdLst>
  <p:sldIdLst>
    <p:sldId id="257" r:id="rId2"/>
    <p:sldId id="258" r:id="rId3"/>
    <p:sldId id="259" r:id="rId4"/>
    <p:sldId id="271" r:id="rId5"/>
    <p:sldId id="274" r:id="rId6"/>
    <p:sldId id="273" r:id="rId7"/>
    <p:sldId id="262" r:id="rId8"/>
    <p:sldId id="275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F46E2-F31E-4FC0-9122-9E72FBAE9262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6C42A-D9EC-4111-BDF7-0EA3C979155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1695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b98f3027398a37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b98f3027398a37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98f3027398a37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98f3027398a37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3010E7C-F953-394C-C88E-7BBFFD591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98f3027398a37_7:notes">
            <a:extLst>
              <a:ext uri="{FF2B5EF4-FFF2-40B4-BE49-F238E27FC236}">
                <a16:creationId xmlns:a16="http://schemas.microsoft.com/office/drawing/2014/main" id="{43269DAE-788C-2614-649C-B62F220F0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98f3027398a37_7:notes">
            <a:extLst>
              <a:ext uri="{FF2B5EF4-FFF2-40B4-BE49-F238E27FC236}">
                <a16:creationId xmlns:a16="http://schemas.microsoft.com/office/drawing/2014/main" id="{7DDE837D-CCFA-05F5-471C-3239CE021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1305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59B347A5-ED3A-17B7-FE9E-EB993E2E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b98f3027398a37_23:notes">
            <a:extLst>
              <a:ext uri="{FF2B5EF4-FFF2-40B4-BE49-F238E27FC236}">
                <a16:creationId xmlns:a16="http://schemas.microsoft.com/office/drawing/2014/main" id="{3A3888FD-729C-DE94-C19B-BBD1AD748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b98f3027398a37_23:notes">
            <a:extLst>
              <a:ext uri="{FF2B5EF4-FFF2-40B4-BE49-F238E27FC236}">
                <a16:creationId xmlns:a16="http://schemas.microsoft.com/office/drawing/2014/main" id="{594D073A-C3AC-0526-D179-81ACE9109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59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98f3027398a37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98f3027398a37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FCAAD52-F7EC-1A7A-1AD0-7832CAF3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98f3027398a37_37:notes">
            <a:extLst>
              <a:ext uri="{FF2B5EF4-FFF2-40B4-BE49-F238E27FC236}">
                <a16:creationId xmlns:a16="http://schemas.microsoft.com/office/drawing/2014/main" id="{8F3B854F-DFE8-F57C-DAC5-3D992418C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98f3027398a37_37:notes">
            <a:extLst>
              <a:ext uri="{FF2B5EF4-FFF2-40B4-BE49-F238E27FC236}">
                <a16:creationId xmlns:a16="http://schemas.microsoft.com/office/drawing/2014/main" id="{0AABE841-D6B9-8AFB-3D2B-C2BF9649B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4016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98f3027398a37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98f3027398a37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98f3027398a37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98f3027398a37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18123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407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3742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863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27266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7076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349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2614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663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382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4284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57307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500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7147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0966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03236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66881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A5158-32F7-4EED-9203-478941920BAF}" type="datetimeFigureOut">
              <a:rPr lang="ru-BY" smtClean="0"/>
              <a:t>05/10/2026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07A170-FE61-47D9-B66B-81E196B648D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2843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00" y="801367"/>
            <a:ext cx="11360800" cy="458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</a:pPr>
            <a:endParaRPr sz="2667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246071" y="4554144"/>
            <a:ext cx="3179976" cy="1374395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</a:t>
            </a: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Пинчук Д.А.</a:t>
            </a:r>
            <a:endParaRPr lang="ru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Bef>
                <a:spcPts val="0"/>
              </a:spcBef>
            </a:pPr>
            <a:r>
              <a:rPr lang="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ИТП–31    </a:t>
            </a:r>
          </a:p>
          <a:p>
            <a:pPr algn="l">
              <a:spcBef>
                <a:spcPts val="0"/>
              </a:spcBef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ru-RU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уководитель</a:t>
            </a: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доцент</a:t>
            </a:r>
          </a:p>
          <a:p>
            <a:pPr algn="l">
              <a:spcBef>
                <a:spcPts val="0"/>
              </a:spcBef>
            </a:pPr>
            <a:r>
              <a:rPr lang="ru-RU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Комраков</a:t>
            </a: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В.В.</a:t>
            </a:r>
            <a:endParaRPr lang="ru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294967295"/>
          </p:nvPr>
        </p:nvSpPr>
        <p:spPr>
          <a:xfrm>
            <a:off x="2762053" y="6254749"/>
            <a:ext cx="6524625" cy="1058863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25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Гомель 2026</a:t>
            </a:r>
          </a:p>
          <a:p>
            <a:pPr marL="0" indent="0" algn="ctr">
              <a:spcBef>
                <a:spcPts val="0"/>
              </a:spcBef>
              <a:buNone/>
            </a:pPr>
            <a:endParaRPr sz="25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F9B5C9-6CF7-1895-0DF8-B927272F65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C5AE2C-4B2D-5BBE-CB7B-C2E06D6F9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1427D1-9A93-30F6-7FBB-F6BA1891080E}"/>
              </a:ext>
            </a:extLst>
          </p:cNvPr>
          <p:cNvSpPr txBox="1"/>
          <p:nvPr/>
        </p:nvSpPr>
        <p:spPr>
          <a:xfrm>
            <a:off x="1282046" y="258595"/>
            <a:ext cx="9816445" cy="388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ct val="55000"/>
            </a:pPr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ОБРАЗОВАНИЯ РЕСПУБЛИКИ БЕЛАРУСЬ</a:t>
            </a:r>
          </a:p>
          <a:p>
            <a:pPr algn="ctr">
              <a:lnSpc>
                <a:spcPct val="115000"/>
              </a:lnSpc>
              <a:buClr>
                <a:schemeClr val="dk1"/>
              </a:buClr>
              <a:buSzPct val="55000"/>
            </a:pPr>
            <a:endParaRPr lang="ru-RU" sz="2400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15000"/>
              </a:lnSpc>
            </a:pPr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УЧРЕЖДЕНИЕ ОБРАЗОВАНИЯ ГОМЕЛЬСКИЙ ГОСУДАРСТВЕННЫЙ ТЕХНИЧЕСКИЙ УНИВЕРСИТЕТ ИМЕНИ П. О. СУХОГО</a:t>
            </a:r>
          </a:p>
          <a:p>
            <a:pPr algn="ctr">
              <a:lnSpc>
                <a:spcPct val="115000"/>
              </a:lnSpc>
            </a:pPr>
            <a:endParaRPr lang="ru-RU" sz="2400"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15000"/>
              </a:lnSpc>
            </a:pPr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ПРЕЗЕНТАЦИЯ</a:t>
            </a:r>
          </a:p>
          <a:p>
            <a:pPr algn="ctr">
              <a:lnSpc>
                <a:spcPct val="115000"/>
              </a:lnSpc>
            </a:pPr>
            <a:r>
              <a:rPr lang="ru-RU" sz="2400" dirty="0">
                <a:solidFill>
                  <a:schemeClr val="bg2">
                    <a:lumMod val="1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</a:t>
            </a:r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СИСТЕМА </a:t>
            </a:r>
            <a:br>
              <a:rPr lang="en-US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ОПРЕДЕЛЕНИЯ ВЛАЖНОСТИ ТОРФА ПО ИЗОБРАЖЕНИЯМ</a:t>
            </a:r>
            <a:r>
              <a:rPr lang="ru-RU" sz="24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24DBC1-AB1D-2BFA-6E38-4A7C4D1726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FA85A1A-03DE-C0E0-E691-9830DC5E6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E18AAC-B273-CBD5-CA27-083F68ABB0B8}"/>
              </a:ext>
            </a:extLst>
          </p:cNvPr>
          <p:cNvSpPr txBox="1"/>
          <p:nvPr/>
        </p:nvSpPr>
        <p:spPr>
          <a:xfrm>
            <a:off x="434453" y="128023"/>
            <a:ext cx="10750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lang="ru-BY"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AB2E7CD-268B-4541-9556-59F412D9C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61" y="1434004"/>
            <a:ext cx="107507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и существующих методов определения влажности торфа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и обосновать аппаратные и программные средства реализации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и разметить датасет изображений торфа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обучить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нейросетевую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на основе </a:t>
            </a:r>
            <a:r>
              <a:rPr kumimoji="0" lang="ru-RU" altLang="ru-RU" sz="2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предобработку данных и аугментацию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модели и анализ качества классификации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модуль предсказания для практического использования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264771" y="286275"/>
            <a:ext cx="11360800" cy="83019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609585" algn="ctr">
              <a:buNone/>
            </a:pPr>
            <a:r>
              <a:rPr lang="ru-RU" sz="3733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технологии при разработке</a:t>
            </a:r>
            <a:endParaRPr lang="cy-GB" sz="3733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609585" algn="ctr">
              <a:buNone/>
            </a:pPr>
            <a:endParaRPr lang="cy-GB" sz="3733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3FEDCB-1EEB-E1BD-3643-2659CBEAA5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839CD1A-D197-4239-8E9D-331D3A12E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A0E60BD-FE28-458D-8BAE-FD5EE9B06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782" y="1432565"/>
            <a:ext cx="1002922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kumimoji="0" lang="ru-RU" altLang="ru-RU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библиотека: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нейросети: </a:t>
            </a:r>
            <a:r>
              <a:rPr kumimoji="0" lang="ru-RU" altLang="ru-RU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(предобученная)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Notebook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изображений: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Pillow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kumimoji="0" lang="ru-RU" altLang="ru-RU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transforms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метрики: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данными: </a:t>
            </a:r>
            <a:r>
              <a:rPr lang="ru-RU" altLang="ru-RU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до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полнительно: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tqdm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(для выбора файла)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B1C0CB63-9EC0-C7A6-809F-5CFDD293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C9EED83-F60C-D6CD-15AC-A9EDDCE71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81494" y="1433955"/>
            <a:ext cx="1879383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BY" sz="240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210636DF-180E-4B5D-9F7A-CABADD1C7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58" y="1006163"/>
            <a:ext cx="10854327" cy="505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13083E2-375A-4C76-DBD5-18D55153A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7634A4-6A5A-B42F-E423-6A842062E4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8C46B9-264A-4DFE-834A-C2899326A611}"/>
              </a:ext>
            </a:extLst>
          </p:cNvPr>
          <p:cNvSpPr txBox="1"/>
          <p:nvPr/>
        </p:nvSpPr>
        <p:spPr>
          <a:xfrm>
            <a:off x="2967371" y="359832"/>
            <a:ext cx="6693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нейронной сети</a:t>
            </a:r>
          </a:p>
        </p:txBody>
      </p:sp>
    </p:spTree>
    <p:extLst>
      <p:ext uri="{BB962C8B-B14F-4D97-AF65-F5344CB8AC3E}">
        <p14:creationId xmlns:p14="http://schemas.microsoft.com/office/powerpoint/2010/main" val="318159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C57E-97FB-6961-DF55-19CF84AD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50116-8158-16DB-6C85-8BB86BB3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3887"/>
            <a:ext cx="10419761" cy="10101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датасета</a:t>
            </a:r>
            <a:br>
              <a:rPr lang="ru-RU" dirty="0">
                <a:effectLst/>
              </a:rPr>
            </a:br>
            <a:endParaRPr lang="ru-BY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F2C1075-84AF-5C4C-E394-57DC9942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A44446-4800-22D7-0C72-42596E3FD5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69652-A6B0-434E-87B6-9F9D033BE160}"/>
              </a:ext>
            </a:extLst>
          </p:cNvPr>
          <p:cNvSpPr txBox="1"/>
          <p:nvPr/>
        </p:nvSpPr>
        <p:spPr>
          <a:xfrm>
            <a:off x="754144" y="1055802"/>
            <a:ext cx="94927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Съёмка проводилась цифровой зеркальной камерой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Sony Alpha 58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Использовался оптический зум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захвата микроструктуры торфа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изображения в высоком разрешении, при естественном дневном освещении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Классы: 8 категорий (от сухого торфа до очень влажного + класс «не торф»)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датасета: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 +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CSV-файлы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разметкой (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Разделение: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95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05AE112C-70AF-7C25-5E1E-7C0F9994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6F149FC9-4264-2658-7FDB-1F0D5F965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486" y="285751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и аугментация данных</a:t>
            </a:r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A325CFB3-426C-97C0-7933-7E2A48BCB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46995" y="9951589"/>
            <a:ext cx="6270837" cy="67594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578CC9-88BE-232A-082D-1098666B32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558702-18E4-F689-1467-3319DDD5AAB2}"/>
              </a:ext>
            </a:extLst>
          </p:cNvPr>
          <p:cNvSpPr txBox="1"/>
          <p:nvPr/>
        </p:nvSpPr>
        <p:spPr>
          <a:xfrm>
            <a:off x="427242" y="637735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BY" sz="2400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A20F38C-DFC0-DB87-D9E8-671AE53E3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35706B-6E2F-4E3E-8CAC-C1A932B9A768}"/>
              </a:ext>
            </a:extLst>
          </p:cNvPr>
          <p:cNvSpPr txBox="1"/>
          <p:nvPr/>
        </p:nvSpPr>
        <p:spPr>
          <a:xfrm>
            <a:off x="1112363" y="1271622"/>
            <a:ext cx="76078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обучающей выборки (с аугментацией):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RandomResizedCrop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(224×224)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RandomHorizontalFlip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RandomVerticalFlip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RandomRotation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(±20°)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ColorJitter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яркость, контраст, насыщенность)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валидационной выборки: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случайных изменений)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97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 algn="ctr"/>
            <a:r>
              <a:rPr lang="ru-RU" sz="3733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ошибки и точности </a:t>
            </a:r>
            <a:br>
              <a:rPr lang="ru-RU" sz="3733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33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обучающей и валидационной выборке</a:t>
            </a:r>
            <a:endParaRPr sz="3733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2068286" y="2427515"/>
            <a:ext cx="137908" cy="49022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/>
          <a:p>
            <a:pPr marL="0" indent="0">
              <a:spcAft>
                <a:spcPts val="16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357C6F-1030-0F9B-DC90-970A9C556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0E3AC0-E25F-4572-8FE6-2BF1EAD8C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86016"/>
            <a:ext cx="12192000" cy="4297899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3490A2D-3D43-2C34-D28E-BAE1BCC11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B4BD641E-388A-D331-81F1-C73B4EC54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B4DFFD15-CB45-28AA-0FA3-5CAAC49C9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382608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 algn="ctr"/>
            <a:r>
              <a:rPr lang="ru-BY" sz="3733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3733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езультата</a:t>
            </a:r>
            <a:r>
              <a:rPr lang="ru-RU" sz="3733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теста сохранения схемы </a:t>
            </a:r>
            <a:endParaRPr sz="3733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9">
            <a:extLst>
              <a:ext uri="{FF2B5EF4-FFF2-40B4-BE49-F238E27FC236}">
                <a16:creationId xmlns:a16="http://schemas.microsoft.com/office/drawing/2014/main" id="{66237CD7-B0E9-B823-A35C-884E06B17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68286" y="2427515"/>
            <a:ext cx="137908" cy="49022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/>
          <a:p>
            <a:pPr marL="0" indent="0">
              <a:spcAft>
                <a:spcPts val="16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841B55-AA42-8D53-D1DB-14A074AF0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37C55464-995A-08F3-F5F4-486EB3464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B18DFE-61A3-43D7-923A-C4029DE66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337" y="90487"/>
            <a:ext cx="7553325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8A650698-EB0B-0349-AD67-45EFD3EBC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15600" y="140446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ru" sz="3733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sz="3733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509869" y="1098892"/>
            <a:ext cx="10934272" cy="568528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Tx/>
              <a:buFont typeface="Times New Roman" panose="02020603050405020304" pitchFamily="18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интеллектуальная система определения влажности торфа по изображениям на основе 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endParaRPr lang="ru-RU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 typeface="Times New Roman" panose="02020603050405020304" pitchFamily="18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полный цикл: от сбора данных до практического модуля предсказания</a:t>
            </a:r>
          </a:p>
          <a:p>
            <a:pPr>
              <a:buClrTx/>
              <a:buFont typeface="Times New Roman" panose="02020603050405020304" pitchFamily="18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Применены современные подходы: </a:t>
            </a:r>
            <a:r>
              <a:rPr lang="ru-RU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аугментация данных, балансировка классов и </a:t>
            </a:r>
            <a:r>
              <a:rPr lang="ru-RU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smoothing</a:t>
            </a:r>
            <a:endParaRPr lang="ru-RU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 typeface="Times New Roman" panose="02020603050405020304" pitchFamily="18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Достигнута точность классификации на валидационной выборке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79%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успешно различает уровни влажности торфа по визуальным признакам (цвет, текстура, блеск)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E0715D-DE82-FB28-86CB-9C88ED498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415600" y="2506744"/>
            <a:ext cx="11360800" cy="92225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ru-RU" sz="5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sz="5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11EDFC-B664-0ED2-B6C1-1F4EB38F89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218" y="5683915"/>
            <a:ext cx="1306783" cy="117408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3E5AAA1-D946-53EA-E809-2C5FE20D8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86" y="5486001"/>
            <a:ext cx="1790593" cy="129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368</Words>
  <Application>Microsoft Office PowerPoint</Application>
  <PresentationFormat>Широкоэкранный</PresentationFormat>
  <Paragraphs>64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Аспект</vt:lpstr>
      <vt:lpstr>       </vt:lpstr>
      <vt:lpstr>Презентация PowerPoint</vt:lpstr>
      <vt:lpstr>Презентация PowerPoint</vt:lpstr>
      <vt:lpstr>Презентация PowerPoint</vt:lpstr>
      <vt:lpstr>Формирование датасета </vt:lpstr>
      <vt:lpstr>Предобработка и аугментация данных</vt:lpstr>
      <vt:lpstr>График ошибки и точности  на обучающей и валидационной выборке</vt:lpstr>
      <vt:lpstr>Результата теста сохранения схемы 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</dc:title>
  <dc:creator>sprbravy123456@gmail.com</dc:creator>
  <cp:lastModifiedBy>Дарья Пинчкук</cp:lastModifiedBy>
  <cp:revision>14</cp:revision>
  <dcterms:created xsi:type="dcterms:W3CDTF">2026-05-05T17:46:29Z</dcterms:created>
  <dcterms:modified xsi:type="dcterms:W3CDTF">2026-05-10T18:35:02Z</dcterms:modified>
</cp:coreProperties>
</file>